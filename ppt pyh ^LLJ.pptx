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7" r:id="rId1"/>
  </p:sldMasterIdLst>
  <p:notesMasterIdLst>
    <p:notesMasterId r:id="rId19"/>
  </p:notesMasterIdLst>
  <p:sldIdLst>
    <p:sldId id="266" r:id="rId2"/>
    <p:sldId id="270" r:id="rId3"/>
    <p:sldId id="285" r:id="rId4"/>
    <p:sldId id="274" r:id="rId5"/>
    <p:sldId id="284" r:id="rId6"/>
    <p:sldId id="286" r:id="rId7"/>
    <p:sldId id="259" r:id="rId8"/>
    <p:sldId id="277" r:id="rId9"/>
    <p:sldId id="288" r:id="rId10"/>
    <p:sldId id="278" r:id="rId11"/>
    <p:sldId id="289" r:id="rId12"/>
    <p:sldId id="279" r:id="rId13"/>
    <p:sldId id="290" r:id="rId14"/>
    <p:sldId id="280" r:id="rId15"/>
    <p:sldId id="273" r:id="rId16"/>
    <p:sldId id="272" r:id="rId17"/>
    <p:sldId id="287" r:id="rId18"/>
  </p:sldIdLst>
  <p:sldSz cx="14630400" cy="8229600"/>
  <p:notesSz cx="8229600" cy="14630400"/>
  <p:embeddedFontLst>
    <p:embeddedFont>
      <p:font typeface="Algerian" panose="04020705040A02060702" pitchFamily="82" charset="0"/>
      <p:regular r:id="rId20"/>
    </p:embeddedFont>
    <p:embeddedFont>
      <p:font typeface="Helvetica Neue" panose="020B0604020202020204" charset="0"/>
      <p:regular r:id="rId21"/>
      <p:bold r:id="rId22"/>
      <p:italic r:id="rId23"/>
      <p:boldItalic r:id="rId24"/>
    </p:embeddedFont>
    <p:embeddedFont>
      <p:font typeface="PT Serif" panose="020A0603040505020204" pitchFamily="18" charset="0"/>
      <p:regular r:id="rId25"/>
      <p:bold r:id="rId26"/>
    </p:embeddedFont>
    <p:embeddedFont>
      <p:font typeface="Trebuchet MS" panose="020B0603020202020204" pitchFamily="34" charset="0"/>
      <p:regular r:id="rId27"/>
      <p:bold r:id="rId28"/>
      <p:italic r:id="rId29"/>
      <p:boldItalic r:id="rId30"/>
    </p:embeddedFont>
    <p:embeddedFont>
      <p:font typeface="Wingdings 3" panose="05040102010807070707" pitchFamily="18" charset="2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19DD94-DF94-4F23-8A60-FD1CF67423D9}" v="5" dt="2026-07-27T02:25:54.120"/>
    <p1510:client id="{E4528E8E-B28A-46D2-A9CF-57EF54F9B676}" v="11" dt="2026-07-26T20:28:47.7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261" autoAdjust="0"/>
  </p:normalViewPr>
  <p:slideViewPr>
    <p:cSldViewPr snapToGrid="0">
      <p:cViewPr varScale="1">
        <p:scale>
          <a:sx n="50" d="100"/>
          <a:sy n="50" d="100"/>
        </p:scale>
        <p:origin x="1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446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8686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893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2260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319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4971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666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771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253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130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409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02460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1645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356127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9003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602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4638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727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120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21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6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7" r:id="rId18"/>
    <p:sldLayoutId id="2147483708" r:id="rId19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032267-4306-8DF9-030B-49A04A33C6E0}"/>
              </a:ext>
            </a:extLst>
          </p:cNvPr>
          <p:cNvSpPr txBox="1"/>
          <p:nvPr/>
        </p:nvSpPr>
        <p:spPr>
          <a:xfrm>
            <a:off x="3038121" y="2128520"/>
            <a:ext cx="76497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FRAUD TRANSACTION ALERTING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12650-1D76-6F98-C12E-4FEECA890D06}"/>
              </a:ext>
            </a:extLst>
          </p:cNvPr>
          <p:cNvSpPr txBox="1"/>
          <p:nvPr/>
        </p:nvSpPr>
        <p:spPr>
          <a:xfrm>
            <a:off x="4928252" y="3428624"/>
            <a:ext cx="643425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 : </a:t>
            </a:r>
            <a:r>
              <a:rPr lang="en-IN" sz="2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</a:p>
          <a:p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 code : </a:t>
            </a:r>
            <a:r>
              <a:rPr lang="en-IN" sz="2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CSA0808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4D6ADA-2B0F-DDFD-BDBB-43A80D69355D}"/>
              </a:ext>
            </a:extLst>
          </p:cNvPr>
          <p:cNvSpPr txBox="1"/>
          <p:nvPr/>
        </p:nvSpPr>
        <p:spPr>
          <a:xfrm>
            <a:off x="815212" y="5425278"/>
            <a:ext cx="5140420" cy="314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US" sz="2400" b="1" u="sng" dirty="0"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DONE BY</a:t>
            </a:r>
            <a:r>
              <a:rPr lang="en-US" sz="2400" b="1" dirty="0"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:</a:t>
            </a:r>
          </a:p>
          <a:p>
            <a:pPr marL="0" marR="0" lvl="0" indent="0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US" sz="2400" dirty="0" err="1"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N.Hari</a:t>
            </a:r>
            <a:r>
              <a:rPr lang="en-US" sz="2400" dirty="0"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 Prakash(192572038)</a:t>
            </a:r>
          </a:p>
          <a:p>
            <a:pPr marL="0" marR="0" lvl="0" indent="0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US" sz="2400" dirty="0" err="1"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A.chaatriksai</a:t>
            </a:r>
            <a:r>
              <a:rPr lang="en-US" sz="2400" dirty="0"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(192571003)</a:t>
            </a:r>
          </a:p>
          <a:p>
            <a:pPr marL="0" marR="0" lvl="0" indent="0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US" sz="2400" dirty="0" err="1"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C.Mohammad</a:t>
            </a:r>
            <a:r>
              <a:rPr lang="en-US" sz="2400" dirty="0"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 Asif(192525092)</a:t>
            </a:r>
          </a:p>
          <a:p>
            <a:pPr marL="0" marR="0" lvl="0" indent="0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78C4D4-76C1-B109-43F3-4A389B5C55DB}"/>
              </a:ext>
            </a:extLst>
          </p:cNvPr>
          <p:cNvSpPr txBox="1"/>
          <p:nvPr/>
        </p:nvSpPr>
        <p:spPr>
          <a:xfrm>
            <a:off x="8361947" y="5434863"/>
            <a:ext cx="4899224" cy="1566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ponmaniraj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sambasivam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Sorts Mill Goudy"/>
              <a:cs typeface="Times New Roman" panose="02020603050405020304" pitchFamily="18" charset="0"/>
              <a:sym typeface="Sorts Mill Goudy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6F320A-CF0E-3350-28A1-181FBAD78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71" y="152079"/>
            <a:ext cx="14104908" cy="164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53510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277B-0B0A-05E9-41E2-97CA6A0B7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0" y="551046"/>
            <a:ext cx="10316002" cy="158496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6B6C347-3B77-75BE-581D-B98CA1783C0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976835" y="2605617"/>
            <a:ext cx="11930774" cy="4077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Python-based system to detect and prevent fraudulent financial transactions.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transactions are growing rapidly, increasing the risk of fraud.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detect fraudulent transactions using simple monitoring techniques.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analyzes user behavior and verifies transactions using authentication and OTP.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prevent unauthorized access and improves transaction security.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3852F636-2B8B-40EF-B24B-C58787E77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180474" y="96722"/>
            <a:ext cx="1606438" cy="1502695"/>
          </a:xfrm>
          <a:prstGeom prst="rect">
            <a:avLst/>
          </a:prstGeom>
        </p:spPr>
      </p:pic>
      <p:pic>
        <p:nvPicPr>
          <p:cNvPr id="11" name="Picture 10" descr="A blue and white logo&#10;&#10;AI-generated content may be incorrect.">
            <a:extLst>
              <a:ext uri="{FF2B5EF4-FFF2-40B4-BE49-F238E27FC236}">
                <a16:creationId xmlns:a16="http://schemas.microsoft.com/office/drawing/2014/main" id="{2D25AF63-2455-4186-85E4-2A86142A0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010215" y="216569"/>
            <a:ext cx="2178255" cy="138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1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23BF78-126C-6386-3CC9-48AFDB95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EC1F4-45CF-5FF7-7F86-BD5575CC9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9474" y="394636"/>
            <a:ext cx="10316002" cy="1584960"/>
          </a:xfrm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9B4C2668-600B-F17C-12D4-7ED2C2CB0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180474" y="96722"/>
            <a:ext cx="1606438" cy="1502695"/>
          </a:xfrm>
          <a:prstGeom prst="rect">
            <a:avLst/>
          </a:prstGeom>
        </p:spPr>
      </p:pic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483D68C8-37FB-1A66-EB03-FD4A41A7F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010215" y="216569"/>
            <a:ext cx="2178255" cy="13820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D72CF79-0772-5014-2335-998DB31B74C6}"/>
              </a:ext>
            </a:extLst>
          </p:cNvPr>
          <p:cNvSpPr txBox="1"/>
          <p:nvPr/>
        </p:nvSpPr>
        <p:spPr>
          <a:xfrm>
            <a:off x="2334125" y="2057451"/>
            <a:ext cx="10611854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Transaction Monitoring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every financial transaction instantly.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suspicious transactions based on amount, location, time, and user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Classification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Categorize transactions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Fraudulent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 Generation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Notify users immediately when suspicious activity is detected.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 Authentication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Verify high-risk transactions using a secure One-Time Password (OTP). </a:t>
            </a:r>
          </a:p>
        </p:txBody>
      </p:sp>
    </p:spTree>
    <p:extLst>
      <p:ext uri="{BB962C8B-B14F-4D97-AF65-F5344CB8AC3E}">
        <p14:creationId xmlns:p14="http://schemas.microsoft.com/office/powerpoint/2010/main" val="201606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969777-2E60-F1C3-CCE0-6A714A7EB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C5E87-1FCA-3A6D-5DD3-493E5029E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296" y="731520"/>
            <a:ext cx="10316002" cy="158496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8C5720E-488E-16A0-E419-DB67012008E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134813" y="2699674"/>
            <a:ext cx="9463629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transactions are increasing rapidly in today’s world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also increases the risk of fraud and unauthorized activities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systems help identify suspicious transactions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analyze patterns like amount, location, and user behavior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 or OTP verification are triggered for risky transactions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security and protects users from financial loss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3D4E30D2-7C10-7CD2-98FF-AC436EC01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324853" y="241101"/>
            <a:ext cx="1606438" cy="1502695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8D78B19C-D32F-11E5-0F72-A10691461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010215" y="216569"/>
            <a:ext cx="2178255" cy="138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60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52E9-D52C-4267-44D4-B165478CB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506" y="514951"/>
            <a:ext cx="10316002" cy="158496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39E1A9-41DA-2E61-D2D6-D5ABE6C3B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3276600"/>
            <a:ext cx="1676400" cy="1676400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45D544B9-B024-D10A-3FE1-472AADCD8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321707" y="189634"/>
            <a:ext cx="1417077" cy="1325563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013C8DF-79B5-0CCE-235E-8CDA18983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431320" y="288758"/>
            <a:ext cx="1761067" cy="111735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C50DEF-B2D5-3887-D4F7-6A085EC92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803850"/>
              </p:ext>
            </p:extLst>
          </p:nvPr>
        </p:nvGraphicFramePr>
        <p:xfrm>
          <a:off x="1070810" y="1946442"/>
          <a:ext cx="12753476" cy="5583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88369">
                  <a:extLst>
                    <a:ext uri="{9D8B030D-6E8A-4147-A177-3AD203B41FA5}">
                      <a16:colId xmlns:a16="http://schemas.microsoft.com/office/drawing/2014/main" val="2661269824"/>
                    </a:ext>
                  </a:extLst>
                </a:gridCol>
                <a:gridCol w="3188369">
                  <a:extLst>
                    <a:ext uri="{9D8B030D-6E8A-4147-A177-3AD203B41FA5}">
                      <a16:colId xmlns:a16="http://schemas.microsoft.com/office/drawing/2014/main" val="1094572269"/>
                    </a:ext>
                  </a:extLst>
                </a:gridCol>
                <a:gridCol w="3188369">
                  <a:extLst>
                    <a:ext uri="{9D8B030D-6E8A-4147-A177-3AD203B41FA5}">
                      <a16:colId xmlns:a16="http://schemas.microsoft.com/office/drawing/2014/main" val="2826826483"/>
                    </a:ext>
                  </a:extLst>
                </a:gridCol>
                <a:gridCol w="3188369">
                  <a:extLst>
                    <a:ext uri="{9D8B030D-6E8A-4147-A177-3AD203B41FA5}">
                      <a16:colId xmlns:a16="http://schemas.microsoft.com/office/drawing/2014/main" val="19367966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Ideas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36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Zhang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AI-based fraud detection in digital payment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 Learning (LSTM &amp; Neural Networks)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568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Sharma &amp; Verma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UPI and online banking fraud prevention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Machine Learning with transaction pattern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79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Kim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 fraud detection using Artificial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Random Forest and </a:t>
                      </a:r>
                      <a:r>
                        <a:rPr lang="en-IN" dirty="0" err="1"/>
                        <a:t>XGBoost</a:t>
                      </a:r>
                      <a:r>
                        <a:rPr lang="en-IN" dirty="0"/>
                        <a:t> algorithms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522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Patel &amp; Rao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Fraud prediction using behavioral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analysis with anomaly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137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Ahmed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Intelligent fraud transaction alerting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Hybrid AI model with real-time alerts and OTP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769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69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60E1BB-FC6B-2883-0563-940BE71B8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60D3A-F69E-20B5-548D-48F42907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9474" y="394636"/>
            <a:ext cx="10316002" cy="158496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7D211436-154B-CC5E-DEDF-589D38F00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180474" y="96722"/>
            <a:ext cx="1606438" cy="1502695"/>
          </a:xfrm>
          <a:prstGeom prst="rect">
            <a:avLst/>
          </a:prstGeom>
        </p:spPr>
      </p:pic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167941C3-59E9-8BBF-855D-7A6CF5A04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010215" y="216569"/>
            <a:ext cx="2178255" cy="13820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4B1761-A7F3-665D-D10B-703706349967}"/>
              </a:ext>
            </a:extLst>
          </p:cNvPr>
          <p:cNvSpPr txBox="1"/>
          <p:nvPr/>
        </p:nvSpPr>
        <p:spPr>
          <a:xfrm>
            <a:off x="1491916" y="2610903"/>
            <a:ext cx="11264566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fraud has become a major challenge with the rapid growth of digital banking, online payments, and e-commerce. Traditional transaction monitoring systems often fail to detect suspicious activities in real time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Allowing unauthorized transactions to occur and causing significant financial losses.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systems also lack intelligent analysis of user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effective multi-layer security mechanisms. </a:t>
            </a:r>
          </a:p>
        </p:txBody>
      </p:sp>
    </p:spTree>
    <p:extLst>
      <p:ext uri="{BB962C8B-B14F-4D97-AF65-F5344CB8AC3E}">
        <p14:creationId xmlns:p14="http://schemas.microsoft.com/office/powerpoint/2010/main" val="36659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1497" y="0"/>
            <a:ext cx="8619173" cy="605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3700" b="1" dirty="0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PROCESS:</a:t>
            </a:r>
            <a:endParaRPr 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6522F7-836E-B8BA-5032-E5ACCC8DEB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59" t="-993" r="3354" b="19197"/>
          <a:stretch>
            <a:fillRect/>
          </a:stretch>
        </p:blipFill>
        <p:spPr>
          <a:xfrm>
            <a:off x="4368082" y="945575"/>
            <a:ext cx="5400812" cy="6963491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B77BAC98-A33B-BC80-81A7-6D9F4A8214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273582" y="117444"/>
            <a:ext cx="1417077" cy="1325563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8CBAC4A0-F439-488D-D832-858DD6946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539604" y="204537"/>
            <a:ext cx="1761067" cy="11173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43C3EF-02FF-C62A-799B-F71FE1577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EF2A-5681-F475-3D56-10F8E4C8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4243" y="741296"/>
            <a:ext cx="9718894" cy="115969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TRANSACTION CHECK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89F78F-464F-A12A-1486-989B96416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80156" y="2008465"/>
            <a:ext cx="10667999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collects transaction details entered by the user such as amount, type, location, and category.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supports both credit and debit transactions to simulate real banking operations.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records each transaction in real-time for further processing and analysis.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maintains a history of transactions which helps in identifying user behavior patterns.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module ensures that all input data is properly structured before sending it to the detection system.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53F7626D-FE45-E39E-1D79-4BEF47E7F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333740" y="117444"/>
            <a:ext cx="1417077" cy="1325563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C44D8196-B791-2478-375C-549064711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467415" y="216568"/>
            <a:ext cx="1761067" cy="111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04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686C0-65D6-5A48-B612-FB3B4BBE1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889" y="1846385"/>
            <a:ext cx="3328621" cy="4536831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6C3DD60A-ACF0-C9C0-7640-A38760B51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309676" y="117444"/>
            <a:ext cx="1417077" cy="1325563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6C3E02E-0DD3-CD68-016F-73705B44F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720078" y="156410"/>
            <a:ext cx="1761067" cy="11173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1033E1-3893-7272-AF8F-80106117E10A}"/>
              </a:ext>
            </a:extLst>
          </p:cNvPr>
          <p:cNvSpPr txBox="1"/>
          <p:nvPr/>
        </p:nvSpPr>
        <p:spPr>
          <a:xfrm>
            <a:off x="4438652" y="156410"/>
            <a:ext cx="5569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312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D8B5-9E37-0889-0529-CF2150FF2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752" y="730224"/>
            <a:ext cx="10251006" cy="64137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FRAUD DETECTION SYSTEM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33D74-3653-12FA-D0F3-42FF3C5BF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0420" y="3736515"/>
            <a:ext cx="10316002" cy="1885154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core module that analyzes each transaction to identify possible fraudulent activities.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calculates a fraud score based on factors like transaction amount, time, and location changes.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unusual patterns by comparing current transactions with past user behavior.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classifies transactions into normal, suspicious, or fraudulent categories.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works in real-time to ensure immediate detection of risky transactions.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1FF6EE28-873B-DFD2-5C13-E5BEBABB8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309676" y="117444"/>
            <a:ext cx="1417077" cy="1325563"/>
          </a:xfrm>
          <a:prstGeom prst="rect">
            <a:avLst/>
          </a:prstGeom>
        </p:spPr>
      </p:pic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EB0D3202-2867-9F6E-D9D0-750150A3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527572" y="168442"/>
            <a:ext cx="1761067" cy="111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11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25098B-40B9-DE13-2521-82FC2020BC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910"/>
          <a:stretch>
            <a:fillRect/>
          </a:stretch>
        </p:blipFill>
        <p:spPr>
          <a:xfrm>
            <a:off x="4943475" y="2299671"/>
            <a:ext cx="4743450" cy="3630258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B25401DF-4433-06B9-6712-C0977A919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309676" y="117444"/>
            <a:ext cx="1417077" cy="1325563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FC55B263-05ED-9C86-A0BB-D8B0485B8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720078" y="156410"/>
            <a:ext cx="1761067" cy="11173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C5F2EE-A06B-192B-2303-E1BA2EB1EB6B}"/>
              </a:ext>
            </a:extLst>
          </p:cNvPr>
          <p:cNvSpPr txBox="1"/>
          <p:nvPr/>
        </p:nvSpPr>
        <p:spPr>
          <a:xfrm>
            <a:off x="3315854" y="364726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281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E732-335B-1286-2416-CC5F4A17D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58" y="718501"/>
            <a:ext cx="10768263" cy="100201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ALERT AND OTP MODULE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1F1DE-FB3D-0B58-4E2D-C79762D45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061" y="2327865"/>
            <a:ext cx="10316002" cy="1816697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generates alerts whenever a transaction is detected as suspicious or fraudulent.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asks the user for confirmation before allowing the transaction to proceed.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OTP (One-Time Password) is generated for secure verification of the transaction.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must enter the correct OTP to successfully complete the transaction.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OTP is incorrect, the transaction is immediately cancelled to prevent misuse.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adds an extra layer of security to protect user accounts from unauthorized access.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CD922FD6-2537-DEF1-6208-3CB28347A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285613" y="225728"/>
            <a:ext cx="1417077" cy="1325563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83C3FE9A-44A0-B148-A13C-CAED25E3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720078" y="156410"/>
            <a:ext cx="1761067" cy="111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73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B27757-CBF4-09A4-BEA1-91D3FFCA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97" y="2683119"/>
            <a:ext cx="2957879" cy="28633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E8BC16-0A92-F7B8-442B-45255E1A6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657" y="2683119"/>
            <a:ext cx="3637085" cy="2863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952557-823F-A73F-6591-C29D38B65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5461" y="2683119"/>
            <a:ext cx="2977660" cy="2760784"/>
          </a:xfrm>
          <a:prstGeom prst="rect">
            <a:avLst/>
          </a:prstGeom>
        </p:spPr>
      </p:pic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F77A86EC-F940-42A1-62ED-A3E7C6A7FB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309676" y="117444"/>
            <a:ext cx="1417077" cy="13255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F09505-2BDA-AD39-3C65-A65222A222B8}"/>
              </a:ext>
            </a:extLst>
          </p:cNvPr>
          <p:cNvSpPr txBox="1"/>
          <p:nvPr/>
        </p:nvSpPr>
        <p:spPr>
          <a:xfrm>
            <a:off x="3186545" y="438540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blue and white logo&#10;&#10;AI-generated content may be incorrect.">
            <a:extLst>
              <a:ext uri="{FF2B5EF4-FFF2-40B4-BE49-F238E27FC236}">
                <a16:creationId xmlns:a16="http://schemas.microsoft.com/office/drawing/2014/main" id="{6F3438A3-783E-72B0-7F79-DD6EF4D73D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720078" y="156410"/>
            <a:ext cx="1761067" cy="111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97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5830A-398E-C6B1-58F4-3E27DF7ED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3B9F-513D-C953-4B16-62DAB58E3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857" y="150240"/>
            <a:ext cx="12703906" cy="1025061"/>
          </a:xfrm>
        </p:spPr>
        <p:txBody>
          <a:bodyPr/>
          <a:lstStyle/>
          <a:p>
            <a:r>
              <a:rPr lang="en-US" sz="5400" dirty="0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E51B0-BE28-1808-83A6-264D20E3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863" y="3393123"/>
            <a:ext cx="10316002" cy="4707524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Transaction Module collects transaction details like amount, type, and location from the user.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immediately sent to the Fraud Detection Module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analysis.The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Fraud Detection Module checks for unusual patterns and calculates the fraud risk.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transaction is normal, it is processed without interruption.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transaction is suspicious or fraudulent, it is passed to the Alert &amp; OTP Module.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Alert &amp; OTP Module sends an alert and asks for OTP verification before completing the transaction.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4AE8C2-EF99-03B8-36FE-B6EE680E4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765" b="22353"/>
          <a:stretch>
            <a:fillRect/>
          </a:stretch>
        </p:blipFill>
        <p:spPr>
          <a:xfrm>
            <a:off x="1143000" y="1107123"/>
            <a:ext cx="12344400" cy="2286000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A4B6371-3817-3D47-DB87-720216469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285613" y="225728"/>
            <a:ext cx="1417077" cy="1325563"/>
          </a:xfrm>
          <a:prstGeom prst="rect">
            <a:avLst/>
          </a:prstGeom>
        </p:spPr>
      </p:pic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19C82D74-CD5B-AF01-AF08-07F4AB20B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720078" y="156410"/>
            <a:ext cx="1761067" cy="111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33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2A0E8-D8AD-ACFA-77F5-19E67413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BE56D8-1830-942A-EA2E-24EAF04D4346}"/>
              </a:ext>
            </a:extLst>
          </p:cNvPr>
          <p:cNvSpPr txBox="1"/>
          <p:nvPr/>
        </p:nvSpPr>
        <p:spPr>
          <a:xfrm>
            <a:off x="4916288" y="273642"/>
            <a:ext cx="11676185" cy="63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50" b="1" dirty="0">
                <a:latin typeface="PT Serif" panose="020A0603040505020204" pitchFamily="18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D4619D-37DE-8F2B-429F-8897D1862E11}"/>
              </a:ext>
            </a:extLst>
          </p:cNvPr>
          <p:cNvSpPr txBox="1"/>
          <p:nvPr/>
        </p:nvSpPr>
        <p:spPr>
          <a:xfrm>
            <a:off x="633046" y="1746737"/>
            <a:ext cx="11090031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alt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Zheng ,“ Transaction fraud detection based on total order relation and behavior diversity." IEEE Transactions on Computational Social Systems 5.3 (2023): 796-806.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alt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L., Liu, G., Transaction fraud detection based on total order relation and behavior diversity. IEEE Transactions on Computational Social Systems, 5(3), 796-806.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altLang="en-US" sz="2400" dirty="0" err="1">
                <a:solidFill>
                  <a:srgbClr val="3838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Guanjun</a:t>
            </a:r>
            <a:r>
              <a:rPr lang="en-US" alt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Liu,. "Transaction fraud detection based on total order relation and behavior diversity." IEEE Transactions on Computational Social Systems 5, no. 3 (2022): 796-806.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altLang="en-US" sz="2400" dirty="0">
                <a:solidFill>
                  <a:srgbClr val="38383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Jiang, C., 2023. Transaction fraud detection based on total order relation and behavior diversity. IEEE Transactions on Computational Social Systems, 5(3), pp.796-806.</a:t>
            </a:r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082A45B3-956C-8752-85D9-913A758E4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321707" y="177602"/>
            <a:ext cx="1627409" cy="1325563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EAC3A48D-4C0F-CBED-DFEC-8656C39C1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720078" y="156410"/>
            <a:ext cx="1761067" cy="111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377353"/>
      </p:ext>
    </p:extLst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D9285B8-5B46-E9B3-9444-20BBAABD4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1F3C420-A87A-1E40-4864-9D21EB61D459}"/>
              </a:ext>
            </a:extLst>
          </p:cNvPr>
          <p:cNvSpPr txBox="1"/>
          <p:nvPr/>
        </p:nvSpPr>
        <p:spPr>
          <a:xfrm>
            <a:off x="5180984" y="405990"/>
            <a:ext cx="11676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E47AD6-B172-0853-7608-D47756C96FA1}"/>
              </a:ext>
            </a:extLst>
          </p:cNvPr>
          <p:cNvSpPr txBox="1"/>
          <p:nvPr/>
        </p:nvSpPr>
        <p:spPr>
          <a:xfrm>
            <a:off x="2048145" y="1418799"/>
            <a:ext cx="9730771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Fraud Transaction Detection System successfully identifies suspicious and fraudulent activities using real-time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enhances security through multi-level authentication, including PIN verification and OTP validation.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helps in preventing unauthorized transactions and protecting user data.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features like alert mechanisms and account locking, it improves reliability and user trust.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can be further extended and implemented in real-world banking systems for advanced security and fraud prevention.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AECC5ACF-3947-CE4D-B19D-80C8FB781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55"/>
          <a:stretch>
            <a:fillRect/>
          </a:stretch>
        </p:blipFill>
        <p:spPr>
          <a:xfrm>
            <a:off x="321707" y="177602"/>
            <a:ext cx="1627409" cy="1325563"/>
          </a:xfrm>
          <a:prstGeom prst="rect">
            <a:avLst/>
          </a:prstGeo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9257F71E-7228-1D71-BF09-F2D0736EF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3" r="33516"/>
          <a:stretch>
            <a:fillRect/>
          </a:stretch>
        </p:blipFill>
        <p:spPr>
          <a:xfrm>
            <a:off x="12335067" y="91335"/>
            <a:ext cx="1958449" cy="124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50539"/>
      </p:ext>
    </p:extLst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B1F2CD-BD22-E9FA-1BAB-B64B14702BB7}"/>
              </a:ext>
            </a:extLst>
          </p:cNvPr>
          <p:cNvSpPr txBox="1"/>
          <p:nvPr/>
        </p:nvSpPr>
        <p:spPr>
          <a:xfrm>
            <a:off x="2634915" y="2719137"/>
            <a:ext cx="974558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3427368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436</TotalTime>
  <Words>938</Words>
  <Application>Microsoft Office PowerPoint</Application>
  <PresentationFormat>Custom</PresentationFormat>
  <Paragraphs>103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Helvetica Neue</vt:lpstr>
      <vt:lpstr>Algerian</vt:lpstr>
      <vt:lpstr>PT Serif</vt:lpstr>
      <vt:lpstr>Wingdings 3</vt:lpstr>
      <vt:lpstr>Trebuchet MS</vt:lpstr>
      <vt:lpstr>Arial</vt:lpstr>
      <vt:lpstr>Times New Roman</vt:lpstr>
      <vt:lpstr>Wingdings</vt:lpstr>
      <vt:lpstr>Facet</vt:lpstr>
      <vt:lpstr>PowerPoint Presentation</vt:lpstr>
      <vt:lpstr>ABSTRACT</vt:lpstr>
      <vt:lpstr>Objectives </vt:lpstr>
      <vt:lpstr>INTRODUCTION</vt:lpstr>
      <vt:lpstr>LITERATURE REVIEW</vt:lpstr>
      <vt:lpstr>Problem statement</vt:lpstr>
      <vt:lpstr>PowerPoint Presentation</vt:lpstr>
      <vt:lpstr>MODULE 1: TRANSACTION CHECK </vt:lpstr>
      <vt:lpstr>PowerPoint Presentation</vt:lpstr>
      <vt:lpstr>MODULE 2: FRAUD DETECTION SYSTEM</vt:lpstr>
      <vt:lpstr>PowerPoint Presentation</vt:lpstr>
      <vt:lpstr>MODULE 3: ALERT AND OTP MODULE</vt:lpstr>
      <vt:lpstr>PowerPoint Presentation</vt:lpstr>
      <vt:lpstr>INTEGRATION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Hashini Bhavyaa</dc:creator>
  <cp:lastModifiedBy>vara kaivalya reddy</cp:lastModifiedBy>
  <cp:revision>13</cp:revision>
  <dcterms:created xsi:type="dcterms:W3CDTF">2025-10-12T06:53:32Z</dcterms:created>
  <dcterms:modified xsi:type="dcterms:W3CDTF">2026-08-24T04:05:52Z</dcterms:modified>
</cp:coreProperties>
</file>